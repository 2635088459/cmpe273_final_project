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02920" cy="6858000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601200" y="0"/>
            <a:ext cx="2590495" cy="1097280"/>
          </a:xfrm>
          <a:prstGeom prst="rect">
            <a:avLst/>
          </a:prstGeom>
          <a:solidFill>
            <a:srgbClr val="2635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601200" y="0"/>
            <a:ext cx="2590495" cy="73152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384048"/>
            <a:ext cx="3474720" cy="384048"/>
          </a:xfrm>
          <a:prstGeom prst="roundRect">
            <a:avLst>
              <a:gd name="adj" fmla="val 14000"/>
            </a:avLst>
          </a:prstGeom>
          <a:solidFill>
            <a:srgbClr val="1E293B"/>
          </a:solidFill>
          <a:ln w="1016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420624"/>
            <a:ext cx="3291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60A5FA"/>
                </a:solidFill>
                <a:latin typeface="Calibri"/>
              </a:rPr>
              <a:t>CMPE 273  ·  Final Project  ·  Spring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960120"/>
            <a:ext cx="82296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200" b="1" i="0">
                <a:solidFill>
                  <a:srgbClr val="F8FAFC"/>
                </a:solidFill>
                <a:latin typeface="Calibri"/>
              </a:rPr>
              <a:t>EraseGraph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852928"/>
            <a:ext cx="4389120" cy="64008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999232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BD5E1"/>
                </a:solidFill>
                <a:latin typeface="Calibri"/>
              </a:rPr>
              <a:t>Verifiable deletion propagation across distributed systems
— observable, traceable, and cryptographically auditable.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4096512"/>
            <a:ext cx="1764792" cy="438912"/>
          </a:xfrm>
          <a:prstGeom prst="roundRect">
            <a:avLst>
              <a:gd name="adj" fmla="val 14000"/>
            </a:avLst>
          </a:prstGeom>
          <a:solidFill>
            <a:srgbClr val="1E293B"/>
          </a:solidFill>
          <a:ln w="1143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5256" y="4178808"/>
            <a:ext cx="1508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F8FAFC"/>
                </a:solidFill>
                <a:latin typeface="Calibri"/>
              </a:rPr>
              <a:t>Haoyuan Shan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06624" y="4096512"/>
            <a:ext cx="2185416" cy="438912"/>
          </a:xfrm>
          <a:prstGeom prst="roundRect">
            <a:avLst>
              <a:gd name="adj" fmla="val 14000"/>
            </a:avLst>
          </a:prstGeom>
          <a:solidFill>
            <a:srgbClr val="1E293B"/>
          </a:solidFill>
          <a:ln w="1143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34640" y="4178808"/>
            <a:ext cx="1929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F8FAFC"/>
                </a:solidFill>
                <a:latin typeface="Calibri"/>
              </a:rPr>
              <a:t>Vritika Malhotra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56632" y="4096512"/>
            <a:ext cx="1869948" cy="438912"/>
          </a:xfrm>
          <a:prstGeom prst="roundRect">
            <a:avLst>
              <a:gd name="adj" fmla="val 14000"/>
            </a:avLst>
          </a:prstGeom>
          <a:solidFill>
            <a:srgbClr val="1E293B"/>
          </a:solidFill>
          <a:ln w="11430"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84648" y="4178808"/>
            <a:ext cx="161391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F8FAFC"/>
                </a:solidFill>
                <a:latin typeface="Calibri"/>
              </a:rPr>
              <a:t>Sakshat Patil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091172" y="4096512"/>
            <a:ext cx="1869948" cy="438912"/>
          </a:xfrm>
          <a:prstGeom prst="roundRect">
            <a:avLst>
              <a:gd name="adj" fmla="val 14000"/>
            </a:avLst>
          </a:prstGeom>
          <a:solidFill>
            <a:srgbClr val="1E293B"/>
          </a:solidFill>
          <a:ln w="1143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19188" y="4178808"/>
            <a:ext cx="161391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F8FAFC"/>
                </a:solidFill>
                <a:latin typeface="Calibri"/>
              </a:rPr>
              <a:t>Asim Mohammed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686800" y="1005840"/>
            <a:ext cx="3246120" cy="512064"/>
          </a:xfrm>
          <a:prstGeom prst="roundRect">
            <a:avLst>
              <a:gd name="adj" fmla="val 14000"/>
            </a:avLst>
          </a:prstGeom>
          <a:solidFill>
            <a:srgbClr val="1E293B"/>
          </a:solidFill>
          <a:ln w="1143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869680" y="1124712"/>
            <a:ext cx="2880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0A5FA"/>
                </a:solidFill>
                <a:latin typeface="Calibri"/>
              </a:rPr>
              <a:t>Frontend Dashboard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149840" y="1517904"/>
            <a:ext cx="45720" cy="164592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686800" y="1682496"/>
            <a:ext cx="3246120" cy="512064"/>
          </a:xfrm>
          <a:prstGeom prst="roundRect">
            <a:avLst>
              <a:gd name="adj" fmla="val 14000"/>
            </a:avLst>
          </a:prstGeom>
          <a:solidFill>
            <a:srgbClr val="1E293B"/>
          </a:solidFill>
          <a:ln w="11430"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869680" y="1801368"/>
            <a:ext cx="2880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B923C"/>
                </a:solidFill>
                <a:latin typeface="Calibri"/>
              </a:rPr>
              <a:t>Backend Orchestrator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149840" y="2194560"/>
            <a:ext cx="45720" cy="164592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686800" y="2359152"/>
            <a:ext cx="3246120" cy="512064"/>
          </a:xfrm>
          <a:prstGeom prst="roundRect">
            <a:avLst>
              <a:gd name="adj" fmla="val 14000"/>
            </a:avLst>
          </a:prstGeom>
          <a:solidFill>
            <a:srgbClr val="1E293B"/>
          </a:solidFill>
          <a:ln w="1143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869680" y="2478024"/>
            <a:ext cx="2880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A78BFA"/>
                </a:solidFill>
                <a:latin typeface="Calibri"/>
              </a:rPr>
              <a:t>RabbitMQ Event Bus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149840" y="2871216"/>
            <a:ext cx="45720" cy="164592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686800" y="3035808"/>
            <a:ext cx="3246120" cy="512064"/>
          </a:xfrm>
          <a:prstGeom prst="roundRect">
            <a:avLst>
              <a:gd name="adj" fmla="val 14000"/>
            </a:avLst>
          </a:prstGeom>
          <a:solidFill>
            <a:srgbClr val="1E293B"/>
          </a:solidFill>
          <a:ln w="1143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869680" y="3154680"/>
            <a:ext cx="2880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4D399"/>
                </a:solidFill>
                <a:latin typeface="Calibri"/>
              </a:rPr>
              <a:t>5 Cleanup Workers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149840" y="3547872"/>
            <a:ext cx="45720" cy="164592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686800" y="3712464"/>
            <a:ext cx="3246120" cy="512064"/>
          </a:xfrm>
          <a:prstGeom prst="roundRect">
            <a:avLst>
              <a:gd name="adj" fmla="val 14000"/>
            </a:avLst>
          </a:prstGeom>
          <a:solidFill>
            <a:srgbClr val="1E293B"/>
          </a:solidFill>
          <a:ln w="1143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869680" y="3831336"/>
            <a:ext cx="2880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BBF24"/>
                </a:solidFill>
                <a:latin typeface="Calibri"/>
              </a:rPr>
              <a:t>Proof &amp; Audit Chain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" y="635508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4748B"/>
                </a:solidFill>
                <a:latin typeface="Calibri"/>
              </a:rPr>
              <a:t>GDPR / CCPA compliant  ·  Event-driven  ·  10+ microservices  ·  Kubernetes-ready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8FAFC"/>
                </a:solidFill>
                <a:latin typeface="Calibri"/>
              </a:rPr>
              <a:t>The Deletion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86968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CBD5E1"/>
                </a:solidFill>
                <a:latin typeface="Calibri"/>
              </a:rPr>
              <a:t>User data lives in multiple systems simultaneously — removing it from one leaves stale copies everywhere else.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17320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8FAFC"/>
                </a:solidFill>
                <a:latin typeface="Calibri"/>
              </a:rPr>
              <a:t>Fragmented data stores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783080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  <a:latin typeface="Calibri"/>
              </a:rPr>
              <a:t>     ▸  Primary DB, cache, search, analytics, and backup each hold a copy.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103120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8FAFC"/>
                </a:solidFill>
                <a:latin typeface="Calibri"/>
              </a:rPr>
              <a:t>Single-system deletes are not enough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468880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  <a:latin typeface="Calibri"/>
              </a:rPr>
              <a:t>     ▸  Removing from Postgres leaves Redis, Elasticsearch, S3, analytics untouched.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788920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8FAFC"/>
                </a:solidFill>
                <a:latin typeface="Calibri"/>
              </a:rPr>
              <a:t>Compliance demands proof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154680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  <a:latin typeface="Calibri"/>
              </a:rPr>
              <a:t>     ▸  GDPR Art.17 &amp; CCPA require auditable evidence of propagated deletion.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474720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8FAFC"/>
                </a:solidFill>
                <a:latin typeface="Calibri"/>
              </a:rPr>
              <a:t>No visibility into partial failures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840480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  <a:latin typeface="Calibri"/>
              </a:rPr>
              <a:t>     ▸  Without tracing, a partial failure is silent — some services succeed, others fail.</a:t>
            </a:r>
          </a:p>
        </p:txBody>
      </p:sp>
      <p:pic>
        <p:nvPicPr>
          <p:cNvPr id="13" name="Picture 12" descr="diag_proble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234440"/>
            <a:ext cx="5897880" cy="534924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8FAFC"/>
                </a:solidFill>
                <a:latin typeface="Calibri"/>
              </a:rPr>
              <a:t>Our Solution: Event-Driven Orchestration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86968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CBD5E1"/>
                </a:solidFill>
                <a:latin typeface="Calibri"/>
              </a:rPr>
              <a:t>One request triggers coordinated, parallel deletion across every data store — with a cryptographic audit trail.</a:t>
            </a:r>
          </a:p>
        </p:txBody>
      </p:sp>
      <p:pic>
        <p:nvPicPr>
          <p:cNvPr id="5" name="Picture 4" descr="diag_solution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371600"/>
            <a:ext cx="11548872" cy="233172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320040" y="3886200"/>
            <a:ext cx="3813048" cy="2697480"/>
          </a:xfrm>
          <a:prstGeom prst="roundRect">
            <a:avLst>
              <a:gd name="adj" fmla="val 14000"/>
            </a:avLst>
          </a:prstGeom>
          <a:solidFill>
            <a:srgbClr val="1E293B"/>
          </a:solidFill>
          <a:ln w="12700"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4041648"/>
            <a:ext cx="344728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B923C"/>
                </a:solidFill>
                <a:latin typeface="Calibri"/>
              </a:rPr>
              <a:t>Orchestrated Cleanup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4434840"/>
            <a:ext cx="34472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BD5E1"/>
                </a:solidFill>
                <a:latin typeface="Calibri"/>
              </a:rPr>
              <a:t>  ▸  One API request → 5 systems cleaned in parallel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4736592"/>
            <a:ext cx="34472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BD5E1"/>
                </a:solidFill>
                <a:latin typeface="Calibri"/>
              </a:rPr>
              <a:t>  ▸  Event-driven workers — independently deployable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5038344"/>
            <a:ext cx="34472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BD5E1"/>
                </a:solidFill>
                <a:latin typeface="Calibri"/>
              </a:rPr>
              <a:t>  ▸  Backend aggregates results into a final status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70248" y="3886200"/>
            <a:ext cx="3813048" cy="2697480"/>
          </a:xfrm>
          <a:prstGeom prst="roundRect">
            <a:avLst>
              <a:gd name="adj" fmla="val 14000"/>
            </a:avLst>
          </a:prstGeom>
          <a:solidFill>
            <a:srgbClr val="1E293B"/>
          </a:solidFill>
          <a:ln w="1270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53128" y="4041648"/>
            <a:ext cx="344728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0A5FA"/>
                </a:solidFill>
                <a:latin typeface="Calibri"/>
              </a:rPr>
              <a:t>Resilient by Default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53128" y="4434840"/>
            <a:ext cx="34472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BD5E1"/>
                </a:solidFill>
                <a:latin typeface="Calibri"/>
              </a:rPr>
              <a:t>  ▸  Retry queues + dead-letter exchange (DLQ)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53128" y="4736592"/>
            <a:ext cx="34472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BD5E1"/>
                </a:solidFill>
                <a:latin typeface="Calibri"/>
              </a:rPr>
              <a:t>  ▸  Circuit breakers prevent cascade failures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53128" y="5038344"/>
            <a:ext cx="34472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BD5E1"/>
                </a:solidFill>
                <a:latin typeface="Calibri"/>
              </a:rPr>
              <a:t>  ▸  Idempotency guards prevent double-processing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0456" y="3886200"/>
            <a:ext cx="3813048" cy="2697480"/>
          </a:xfrm>
          <a:prstGeom prst="roundRect">
            <a:avLst>
              <a:gd name="adj" fmla="val 14000"/>
            </a:avLst>
          </a:prstGeom>
          <a:solidFill>
            <a:srgbClr val="1E293B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03336" y="4041648"/>
            <a:ext cx="344728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4D399"/>
                </a:solidFill>
                <a:latin typeface="Calibri"/>
              </a:rPr>
              <a:t>Cryptographic Audit Trail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03336" y="4434840"/>
            <a:ext cx="34472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BD5E1"/>
                </a:solidFill>
                <a:latin typeface="Calibri"/>
              </a:rPr>
              <a:t>  ▸  Every event SHA-256 hash-chained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03336" y="4736592"/>
            <a:ext cx="34472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BD5E1"/>
                </a:solidFill>
                <a:latin typeface="Calibri"/>
              </a:rPr>
              <a:t>  ▸  Tamper-evident — modify any record, chain breaks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03336" y="5038344"/>
            <a:ext cx="34472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BD5E1"/>
                </a:solidFill>
                <a:latin typeface="Calibri"/>
              </a:rPr>
              <a:t>  ▸  Exportable JSON proof + one-click verification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8FAFC"/>
                </a:solidFill>
                <a:latin typeface="Calibri"/>
              </a:rP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86968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CBD5E1"/>
                </a:solidFill>
                <a:latin typeface="Calibri"/>
              </a:rPr>
              <a:t>Frontend · Backend · RabbitMQ · 5 Cleanup Workers · Proof Service · PostgreSQL · Redis · S3</a:t>
            </a:r>
          </a:p>
        </p:txBody>
      </p:sp>
      <p:pic>
        <p:nvPicPr>
          <p:cNvPr id="5" name="Picture 4" descr="diag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261872"/>
            <a:ext cx="11731752" cy="53492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8FAFC"/>
                </a:solidFill>
                <a:latin typeface="Calibri"/>
              </a:rPr>
              <a:t>Request Sequence — Step by Step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86968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CBD5E1"/>
                </a:solidFill>
                <a:latin typeface="Calibri"/>
              </a:rPr>
              <a:t>How a single deletion request flows through every service layer — from REST call to SSE completion event.</a:t>
            </a:r>
          </a:p>
        </p:txBody>
      </p:sp>
      <p:pic>
        <p:nvPicPr>
          <p:cNvPr id="5" name="Picture 4" descr="diag_sequ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261872"/>
            <a:ext cx="11731752" cy="53492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8FAFC"/>
                </a:solidFill>
                <a:latin typeface="Calibri"/>
              </a:rPr>
              <a:t>Request Lifecycle &amp; State Machine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86968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CBD5E1"/>
                </a:solidFill>
                <a:latin typeface="Calibri"/>
              </a:rPr>
              <a:t>Every deletion moves through a well-defined state machine with step-level visibility per service.</a:t>
            </a:r>
          </a:p>
        </p:txBody>
      </p:sp>
      <p:pic>
        <p:nvPicPr>
          <p:cNvPr id="5" name="Picture 4" descr="diag_work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261872"/>
            <a:ext cx="11548872" cy="402336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320040" y="5440680"/>
            <a:ext cx="5577840" cy="1188720"/>
          </a:xfrm>
          <a:prstGeom prst="roundRect">
            <a:avLst>
              <a:gd name="adj" fmla="val 14000"/>
            </a:avLst>
          </a:prstGeom>
          <a:solidFill>
            <a:srgbClr val="1E293B"/>
          </a:solidFill>
          <a:ln w="1143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5559552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34D399"/>
                </a:solidFill>
                <a:latin typeface="Calibri"/>
              </a:rPr>
              <a:t>Step states per service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5870448"/>
            <a:ext cx="5212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BD5E1"/>
                </a:solidFill>
                <a:latin typeface="Calibri"/>
              </a:rPr>
              <a:t>Each worker independently reports PENDING → RUNNING → SUCCEEDED / FAILED. The orchestrator aggregates into a final request-level status.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080760" y="5440680"/>
            <a:ext cx="5779008" cy="1188720"/>
          </a:xfrm>
          <a:prstGeom prst="roundRect">
            <a:avLst>
              <a:gd name="adj" fmla="val 14000"/>
            </a:avLst>
          </a:prstGeom>
          <a:solidFill>
            <a:srgbClr val="1E293B"/>
          </a:solidFill>
          <a:ln w="1143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63640" y="5559552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60A5FA"/>
                </a:solidFill>
                <a:latin typeface="Calibri"/>
              </a:rPr>
              <a:t>PARTIAL_COMPLETED is intentional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3640" y="5870448"/>
            <a:ext cx="5394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BD5E1"/>
                </a:solidFill>
                <a:latin typeface="Calibri"/>
              </a:rPr>
              <a:t>Non-critical services (analytics, backup) failing does not block primary deletion. Auditors see exactly which systems were cleaned — more informative than binary pass/fail.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8FAFC"/>
                </a:solidFill>
                <a:latin typeface="Calibri"/>
              </a:rPr>
              <a:t>Reliability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86968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CBD5E1"/>
                </a:solidFill>
                <a:latin typeface="Calibri"/>
              </a:rPr>
              <a:t>Three layered mechanisms ensure every deletion eventually completes — or is explicitly accounted for.</a:t>
            </a:r>
          </a:p>
        </p:txBody>
      </p:sp>
      <p:pic>
        <p:nvPicPr>
          <p:cNvPr id="5" name="Picture 4" descr="diag_reliabi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261872"/>
            <a:ext cx="11731752" cy="53492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8FAFC"/>
                </a:solidFill>
                <a:latin typeface="Calibri"/>
              </a:rPr>
              <a:t>Proof &amp; Auditability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86968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CBD5E1"/>
                </a:solidFill>
                <a:latin typeface="Calibri"/>
              </a:rPr>
              <a:t>Every deletion event is hash-chained. Modify any record and verification fails — cryptographically guaranteed.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17320"/>
            <a:ext cx="5120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8FAFC"/>
                </a:solidFill>
                <a:latin typeface="Calibri"/>
              </a:rPr>
              <a:t>Hash-chained proof events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746504"/>
            <a:ext cx="5120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BD5E1"/>
                </a:solidFill>
                <a:latin typeface="Calibri"/>
              </a:rPr>
              <a:t>     ▸  Each event stores SHA-256(prev_hash + type + payload + ts).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039112"/>
            <a:ext cx="5120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BD5E1"/>
                </a:solidFill>
                <a:latin typeface="Calibri"/>
              </a:rPr>
              <a:t>     ▸  Any tampering breaks the chain from that point onwards.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404872"/>
            <a:ext cx="5120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8FAFC"/>
                </a:solidFill>
                <a:latin typeface="Calibri"/>
              </a:rPr>
              <a:t>Advisory lock during writes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734056"/>
            <a:ext cx="5120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BD5E1"/>
                </a:solidFill>
                <a:latin typeface="Calibri"/>
              </a:rPr>
              <a:t>     ▸  pg_advisory_xact_lock ensures sequential writes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026664"/>
            <a:ext cx="5120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BD5E1"/>
                </a:solidFill>
                <a:latin typeface="Calibri"/>
              </a:rPr>
              <a:t>     ▸  under concurrent load — no race conditions.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392424"/>
            <a:ext cx="5120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8FAFC"/>
                </a:solidFill>
                <a:latin typeface="Calibri"/>
              </a:rPr>
              <a:t>Export &amp; one-click verification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721608"/>
            <a:ext cx="5120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BD5E1"/>
                </a:solidFill>
                <a:latin typeface="Calibri"/>
              </a:rPr>
              <a:t>     ▸  Full chain exported as JSON. Verify reports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4014216"/>
            <a:ext cx="5120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BD5E1"/>
                </a:solidFill>
                <a:latin typeface="Calibri"/>
              </a:rPr>
              <a:t>     ▸  VERIFIED or TAMPERED per-record.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4379976"/>
            <a:ext cx="5120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8FAFC"/>
                </a:solidFill>
                <a:latin typeface="Calibri"/>
              </a:rPr>
              <a:t>Compliance-ready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4709160"/>
            <a:ext cx="5120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BD5E1"/>
                </a:solidFill>
                <a:latin typeface="Calibri"/>
              </a:rPr>
              <a:t>     ▸  Satisfies GDPR Art.17 &amp; CCPA deletion audit requirements.</a:t>
            </a:r>
          </a:p>
        </p:txBody>
      </p:sp>
      <p:pic>
        <p:nvPicPr>
          <p:cNvPr id="16" name="Picture 15" descr="diag_proof_ch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1261872"/>
            <a:ext cx="6080760" cy="53492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8FAFC"/>
                </a:solidFill>
                <a:latin typeface="Calibri"/>
              </a:rPr>
              <a:t>Consistency &amp; Tradeoffs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86968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CBD5E1"/>
                </a:solidFill>
                <a:latin typeface="Calibri"/>
              </a:rPr>
              <a:t>Deliberate tradeoffs per data store. Not all systems require the same consistency guarantee.</a:t>
            </a:r>
          </a:p>
        </p:txBody>
      </p:sp>
      <p:pic>
        <p:nvPicPr>
          <p:cNvPr id="5" name="Picture 4" descr="diag_consistenc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261872"/>
            <a:ext cx="11548872" cy="38404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320040" y="5257800"/>
            <a:ext cx="5577840" cy="1371600"/>
          </a:xfrm>
          <a:prstGeom prst="roundRect">
            <a:avLst>
              <a:gd name="adj" fmla="val 14000"/>
            </a:avLst>
          </a:prstGeom>
          <a:solidFill>
            <a:srgbClr val="1E293B"/>
          </a:solidFill>
          <a:ln w="11430"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5376672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B923C"/>
                </a:solidFill>
                <a:latin typeface="Calibri"/>
              </a:rPr>
              <a:t>Why PARTIAL_COMPLETED is good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5705856"/>
            <a:ext cx="5212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BD5E1"/>
                </a:solidFill>
                <a:latin typeface="Calibri"/>
              </a:rPr>
              <a:t>Rather than failing entirely when analytics is slow, we record partial success. Auditors see exactly which systems were cleaned — more informative than binary pass/fail.</a:t>
            </a:r>
          </a:p>
        </p:txBody>
      </p:sp>
      <p:sp>
        <p:nvSpPr>
          <p:cNvPr id="9" name="Rectangle 8"/>
          <p:cNvSpPr/>
          <p:nvPr/>
        </p:nvSpPr>
        <p:spPr>
          <a:xfrm>
            <a:off x="6080760" y="5257800"/>
            <a:ext cx="5779008" cy="1371600"/>
          </a:xfrm>
          <a:prstGeom prst="roundRect">
            <a:avLst>
              <a:gd name="adj" fmla="val 14000"/>
            </a:avLst>
          </a:prstGeom>
          <a:solidFill>
            <a:srgbClr val="1E293B"/>
          </a:solidFill>
          <a:ln w="1143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63640" y="5376672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60A5FA"/>
                </a:solidFill>
                <a:latin typeface="Calibri"/>
              </a:rPr>
              <a:t>CAP Theorem position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3640" y="5705856"/>
            <a:ext cx="5394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BD5E1"/>
                </a:solidFill>
                <a:latin typeface="Calibri"/>
              </a:rPr>
              <a:t>We favour AP (Availability + Partition Tolerance) for the event-driven path. The cryptographic proof chain provides Consistency through eventual convergence and tamper detection.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8FAFC"/>
                </a:solidFill>
                <a:latin typeface="Calibri"/>
              </a:rPr>
              <a:t>Observability &amp; Operations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86968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CBD5E1"/>
                </a:solidFill>
                <a:latin typeface="Calibri"/>
              </a:rPr>
              <a:t>Every request, event, and failure is traced, measured, and surfaced in real time.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17320"/>
            <a:ext cx="5577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8FAFC"/>
                </a:solidFill>
                <a:latin typeface="Calibri"/>
              </a:rPr>
              <a:t>OpenTelemetry + Jaeger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746504"/>
            <a:ext cx="5577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BD5E1"/>
                </a:solidFill>
                <a:latin typeface="Calibri"/>
              </a:rPr>
              <a:t>     ▸  Distributed traces span all service boundaries.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039112"/>
            <a:ext cx="5577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BD5E1"/>
                </a:solidFill>
                <a:latin typeface="Calibri"/>
              </a:rPr>
              <a:t>     ▸  See exactly where latency and failures occur.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404872"/>
            <a:ext cx="5577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8FAFC"/>
                </a:solidFill>
                <a:latin typeface="Calibri"/>
              </a:rPr>
              <a:t>Prometheus + Grafana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734056"/>
            <a:ext cx="5577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BD5E1"/>
                </a:solidFill>
                <a:latin typeface="Calibri"/>
              </a:rPr>
              <a:t>     ▸  Throughput, step duration, retry counts, CB state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026664"/>
            <a:ext cx="5577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BD5E1"/>
                </a:solidFill>
                <a:latin typeface="Calibri"/>
              </a:rPr>
              <a:t>     ▸  exported and visualised on live dashboards.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392424"/>
            <a:ext cx="5577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8FAFC"/>
                </a:solidFill>
                <a:latin typeface="Calibri"/>
              </a:rPr>
              <a:t>Admin Dashboard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721608"/>
            <a:ext cx="5577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BD5E1"/>
                </a:solidFill>
                <a:latin typeface="Calibri"/>
              </a:rPr>
              <a:t>     ▸  Real-time health, circuit breaker state per service,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4014216"/>
            <a:ext cx="5577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BD5E1"/>
                </a:solidFill>
                <a:latin typeface="Calibri"/>
              </a:rPr>
              <a:t>     ▸  SLA violations with timestamps, DLQ message count.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4379976"/>
            <a:ext cx="5577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8FAFC"/>
                </a:solidFill>
                <a:latin typeface="Calibri"/>
              </a:rPr>
              <a:t>Real-time SSE Streaming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4709160"/>
            <a:ext cx="5577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BD5E1"/>
                </a:solidFill>
                <a:latin typeface="Calibri"/>
              </a:rPr>
              <a:t>     ▸  Frontend receives live status updates — no polling.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92240" y="1417320"/>
            <a:ext cx="5440680" cy="1554480"/>
          </a:xfrm>
          <a:prstGeom prst="roundRect">
            <a:avLst>
              <a:gd name="adj" fmla="val 14000"/>
            </a:avLst>
          </a:prstGeom>
          <a:solidFill>
            <a:srgbClr val="1E293B"/>
          </a:solidFill>
          <a:ln w="127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93408" y="1572768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2D3EE"/>
                </a:solidFill>
                <a:latin typeface="Calibri"/>
              </a:rPr>
              <a:t>Observability Stack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693408" y="1965960"/>
            <a:ext cx="1513332" cy="301752"/>
          </a:xfrm>
          <a:prstGeom prst="roundRect">
            <a:avLst>
              <a:gd name="adj" fmla="val 14000"/>
            </a:avLst>
          </a:prstGeom>
          <a:solidFill>
            <a:srgbClr val="26354C"/>
          </a:solidFill>
          <a:ln w="1016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84848" y="2002536"/>
            <a:ext cx="133045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22D3EE"/>
                </a:solidFill>
                <a:latin typeface="Calibri"/>
              </a:rPr>
              <a:t>OpenTelemetry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334756" y="1965960"/>
            <a:ext cx="905256" cy="301752"/>
          </a:xfrm>
          <a:prstGeom prst="roundRect">
            <a:avLst>
              <a:gd name="adj" fmla="val 14000"/>
            </a:avLst>
          </a:prstGeom>
          <a:solidFill>
            <a:srgbClr val="26354C"/>
          </a:solidFill>
          <a:ln w="1016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26196" y="2002536"/>
            <a:ext cx="72237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60A5FA"/>
                </a:solidFill>
                <a:latin typeface="Calibri"/>
              </a:rPr>
              <a:t>Jaeger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368028" y="1965960"/>
            <a:ext cx="1252728" cy="301752"/>
          </a:xfrm>
          <a:prstGeom prst="roundRect">
            <a:avLst>
              <a:gd name="adj" fmla="val 14000"/>
            </a:avLst>
          </a:prstGeom>
          <a:solidFill>
            <a:srgbClr val="26354C"/>
          </a:solidFill>
          <a:ln w="10160"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459468" y="2002536"/>
            <a:ext cx="106984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B923C"/>
                </a:solidFill>
                <a:latin typeface="Calibri"/>
              </a:rPr>
              <a:t>Prometheus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748772" y="1965960"/>
            <a:ext cx="992124" cy="301752"/>
          </a:xfrm>
          <a:prstGeom prst="roundRect">
            <a:avLst>
              <a:gd name="adj" fmla="val 14000"/>
            </a:avLst>
          </a:prstGeom>
          <a:solidFill>
            <a:srgbClr val="26354C"/>
          </a:solidFill>
          <a:ln w="1016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840212" y="2002536"/>
            <a:ext cx="80924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34D399"/>
                </a:solidFill>
                <a:latin typeface="Calibri"/>
              </a:rPr>
              <a:t>Grafana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693408" y="2350008"/>
            <a:ext cx="1513332" cy="301752"/>
          </a:xfrm>
          <a:prstGeom prst="roundRect">
            <a:avLst>
              <a:gd name="adj" fmla="val 14000"/>
            </a:avLst>
          </a:prstGeom>
          <a:solidFill>
            <a:srgbClr val="26354C"/>
          </a:solidFill>
          <a:ln w="1016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84848" y="2386584"/>
            <a:ext cx="133045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A78BFA"/>
                </a:solidFill>
                <a:latin typeface="Calibri"/>
              </a:rPr>
              <a:t>SSE Streaming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92240" y="3154680"/>
            <a:ext cx="5440680" cy="2560320"/>
          </a:xfrm>
          <a:prstGeom prst="roundRect">
            <a:avLst>
              <a:gd name="adj" fmla="val 14000"/>
            </a:avLst>
          </a:prstGeom>
          <a:solidFill>
            <a:srgbClr val="1E293B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93408" y="3291839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4D399"/>
                </a:solidFill>
                <a:latin typeface="Calibri"/>
              </a:rPr>
              <a:t>Admin Panel surfaces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93408" y="3666744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BD5E1"/>
                </a:solidFill>
                <a:latin typeface="Calibri"/>
              </a:rPr>
              <a:t>  ▸  Per-service health (healthy / degraded / down)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93408" y="3968496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BD5E1"/>
                </a:solidFill>
                <a:latin typeface="Calibri"/>
              </a:rPr>
              <a:t>  ▸  Circuit breaker state — CLOSED / OPEN / HALF-OPEN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93408" y="4270248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BD5E1"/>
                </a:solidFill>
                <a:latin typeface="Calibri"/>
              </a:rPr>
              <a:t>  ▸  SLA violations with timestamps and service name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93408" y="45720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BD5E1"/>
                </a:solidFill>
                <a:latin typeface="Calibri"/>
              </a:rPr>
              <a:t>  ▸  DLQ message count + one-click replay trigger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93408" y="4873752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BD5E1"/>
                </a:solidFill>
                <a:latin typeface="Calibri"/>
              </a:rPr>
              <a:t>  ▸  Cryptographic attestation per deletion request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8FAFC"/>
                </a:solidFill>
                <a:latin typeface="Calibri"/>
              </a:rPr>
              <a:t>Kubernetes-Ready, Cloud-Deployed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86968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CBD5E1"/>
                </a:solidFill>
                <a:latin typeface="Calibri"/>
              </a:rPr>
              <a:t>Every service containerised — local via Docker Compose, production-grade on Kubernetes / GKE.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17320"/>
            <a:ext cx="5760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8FAFC"/>
                </a:solidFill>
                <a:latin typeface="Calibri"/>
              </a:rPr>
              <a:t>Docker Compose (local dev)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746504"/>
            <a:ext cx="5760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BD5E1"/>
                </a:solidFill>
                <a:latin typeface="Calibri"/>
              </a:rPr>
              <a:t>     ▸  Single command spins up all 12+ services,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039112"/>
            <a:ext cx="5760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BD5E1"/>
                </a:solidFill>
                <a:latin typeface="Calibri"/>
              </a:rPr>
              <a:t>     ▸  Postgres, Redis, RabbitMQ, Jaeger, Prometheus.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404872"/>
            <a:ext cx="5760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8FAFC"/>
                </a:solidFill>
                <a:latin typeface="Calibri"/>
              </a:rPr>
              <a:t>Kubernetes (production)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734056"/>
            <a:ext cx="5760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BD5E1"/>
                </a:solidFill>
                <a:latin typeface="Calibri"/>
              </a:rPr>
              <a:t>     ▸  Deployment manifests, Services, ConfigMaps for every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026664"/>
            <a:ext cx="5760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BD5E1"/>
                </a:solidFill>
                <a:latin typeface="Calibri"/>
              </a:rPr>
              <a:t>     ▸  component. Workers scale horizontally.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392424"/>
            <a:ext cx="5760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8FAFC"/>
                </a:solidFill>
                <a:latin typeface="Calibri"/>
              </a:rPr>
              <a:t>Cloud Deployment (GKE)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721608"/>
            <a:ext cx="5760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BD5E1"/>
                </a:solidFill>
                <a:latin typeface="Calibri"/>
              </a:rPr>
              <a:t>     ▸  Live on cloud cluster. All services verified running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4014216"/>
            <a:ext cx="5760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BD5E1"/>
                </a:solidFill>
                <a:latin typeface="Calibri"/>
              </a:rPr>
              <a:t>     ▸  end-to-end in a production-like environment.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4379976"/>
            <a:ext cx="5760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8FAFC"/>
                </a:solidFill>
                <a:latin typeface="Calibri"/>
              </a:rPr>
              <a:t>Environment isolation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4709160"/>
            <a:ext cx="5760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BD5E1"/>
                </a:solidFill>
                <a:latin typeface="Calibri"/>
              </a:rPr>
              <a:t>     ▸  Secrets via .env.example — zero credentials committed.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675120" y="1417320"/>
            <a:ext cx="5212080" cy="2651760"/>
          </a:xfrm>
          <a:prstGeom prst="roundRect">
            <a:avLst>
              <a:gd name="adj" fmla="val 14000"/>
            </a:avLst>
          </a:prstGeom>
          <a:solidFill>
            <a:srgbClr val="1E293B"/>
          </a:solidFill>
          <a:ln w="1270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76288" y="1554480"/>
            <a:ext cx="48097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0A5FA"/>
                </a:solidFill>
                <a:latin typeface="Calibri"/>
              </a:rPr>
              <a:t>Services deployed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76288" y="1938528"/>
            <a:ext cx="1339595" cy="301752"/>
          </a:xfrm>
          <a:prstGeom prst="roundRect">
            <a:avLst>
              <a:gd name="adj" fmla="val 14000"/>
            </a:avLst>
          </a:prstGeom>
          <a:solidFill>
            <a:srgbClr val="26354C"/>
          </a:solidFill>
          <a:ln w="1016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67728" y="1975104"/>
            <a:ext cx="1156715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64748B"/>
                </a:solidFill>
                <a:latin typeface="Calibri"/>
              </a:rPr>
              <a:t>Backend API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325611" y="1938528"/>
            <a:ext cx="1078992" cy="301752"/>
          </a:xfrm>
          <a:prstGeom prst="roundRect">
            <a:avLst>
              <a:gd name="adj" fmla="val 14000"/>
            </a:avLst>
          </a:prstGeom>
          <a:solidFill>
            <a:srgbClr val="26354C"/>
          </a:solidFill>
          <a:ln w="1016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7051" y="1975104"/>
            <a:ext cx="89611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64748B"/>
                </a:solidFill>
                <a:latin typeface="Calibri"/>
              </a:rPr>
              <a:t>Frontend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514331" y="1938528"/>
            <a:ext cx="1513332" cy="301752"/>
          </a:xfrm>
          <a:prstGeom prst="roundRect">
            <a:avLst>
              <a:gd name="adj" fmla="val 14000"/>
            </a:avLst>
          </a:prstGeom>
          <a:solidFill>
            <a:srgbClr val="26354C"/>
          </a:solidFill>
          <a:ln w="1016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5771" y="1975104"/>
            <a:ext cx="133045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64748B"/>
                </a:solidFill>
                <a:latin typeface="Calibri"/>
              </a:rPr>
              <a:t>Cache Cleanup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137391" y="1938528"/>
            <a:ext cx="1600200" cy="301752"/>
          </a:xfrm>
          <a:prstGeom prst="roundRect">
            <a:avLst>
              <a:gd name="adj" fmla="val 14000"/>
            </a:avLst>
          </a:prstGeom>
          <a:solidFill>
            <a:srgbClr val="26354C"/>
          </a:solidFill>
          <a:ln w="1016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228831" y="1975104"/>
            <a:ext cx="1417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64748B"/>
                </a:solidFill>
                <a:latin typeface="Calibri"/>
              </a:rPr>
              <a:t>Search Cleanup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876288" y="2304288"/>
            <a:ext cx="1860804" cy="301752"/>
          </a:xfrm>
          <a:prstGeom prst="roundRect">
            <a:avLst>
              <a:gd name="adj" fmla="val 14000"/>
            </a:avLst>
          </a:prstGeom>
          <a:solidFill>
            <a:srgbClr val="26354C"/>
          </a:solidFill>
          <a:ln w="1016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67728" y="2340864"/>
            <a:ext cx="167792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64748B"/>
                </a:solidFill>
                <a:latin typeface="Calibri"/>
              </a:rPr>
              <a:t>Analytics Cleanup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846820" y="2304288"/>
            <a:ext cx="1600200" cy="301752"/>
          </a:xfrm>
          <a:prstGeom prst="roundRect">
            <a:avLst>
              <a:gd name="adj" fmla="val 14000"/>
            </a:avLst>
          </a:prstGeom>
          <a:solidFill>
            <a:srgbClr val="26354C"/>
          </a:solidFill>
          <a:ln w="1016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938260" y="2340864"/>
            <a:ext cx="1417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64748B"/>
                </a:solidFill>
                <a:latin typeface="Calibri"/>
              </a:rPr>
              <a:t>Backup Service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556748" y="2304288"/>
            <a:ext cx="1513332" cy="301752"/>
          </a:xfrm>
          <a:prstGeom prst="roundRect">
            <a:avLst>
              <a:gd name="adj" fmla="val 14000"/>
            </a:avLst>
          </a:prstGeom>
          <a:solidFill>
            <a:srgbClr val="26354C"/>
          </a:solidFill>
          <a:ln w="1016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648188" y="2340864"/>
            <a:ext cx="133045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64748B"/>
                </a:solidFill>
                <a:latin typeface="Calibri"/>
              </a:rPr>
              <a:t>Proof Service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876288" y="2670048"/>
            <a:ext cx="1078992" cy="301752"/>
          </a:xfrm>
          <a:prstGeom prst="roundRect">
            <a:avLst>
              <a:gd name="adj" fmla="val 14000"/>
            </a:avLst>
          </a:prstGeom>
          <a:solidFill>
            <a:srgbClr val="26354C"/>
          </a:solidFill>
          <a:ln w="1016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967728" y="2706624"/>
            <a:ext cx="89611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64748B"/>
                </a:solidFill>
                <a:latin typeface="Calibri"/>
              </a:rPr>
              <a:t>RabbitMQ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065008" y="2670048"/>
            <a:ext cx="1252728" cy="301752"/>
          </a:xfrm>
          <a:prstGeom prst="roundRect">
            <a:avLst>
              <a:gd name="adj" fmla="val 14000"/>
            </a:avLst>
          </a:prstGeom>
          <a:solidFill>
            <a:srgbClr val="26354C"/>
          </a:solidFill>
          <a:ln w="1016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156448" y="2706624"/>
            <a:ext cx="106984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64748B"/>
                </a:solidFill>
                <a:latin typeface="Calibri"/>
              </a:rPr>
              <a:t>PostgreSQL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427464" y="2670048"/>
            <a:ext cx="818388" cy="301752"/>
          </a:xfrm>
          <a:prstGeom prst="roundRect">
            <a:avLst>
              <a:gd name="adj" fmla="val 14000"/>
            </a:avLst>
          </a:prstGeom>
          <a:solidFill>
            <a:srgbClr val="26354C"/>
          </a:solidFill>
          <a:ln w="1016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518904" y="2706624"/>
            <a:ext cx="63550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64748B"/>
                </a:solidFill>
                <a:latin typeface="Calibri"/>
              </a:rPr>
              <a:t>Redis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0355580" y="2670048"/>
            <a:ext cx="905256" cy="301752"/>
          </a:xfrm>
          <a:prstGeom prst="roundRect">
            <a:avLst>
              <a:gd name="adj" fmla="val 14000"/>
            </a:avLst>
          </a:prstGeom>
          <a:solidFill>
            <a:srgbClr val="26354C"/>
          </a:solidFill>
          <a:ln w="1016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447020" y="2706624"/>
            <a:ext cx="72237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64748B"/>
                </a:solidFill>
                <a:latin typeface="Calibri"/>
              </a:rPr>
              <a:t>Jaeger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1370564" y="2670048"/>
            <a:ext cx="1252728" cy="301752"/>
          </a:xfrm>
          <a:prstGeom prst="roundRect">
            <a:avLst>
              <a:gd name="adj" fmla="val 14000"/>
            </a:avLst>
          </a:prstGeom>
          <a:solidFill>
            <a:srgbClr val="26354C"/>
          </a:solidFill>
          <a:ln w="1016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1462004" y="2706624"/>
            <a:ext cx="106984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64748B"/>
                </a:solidFill>
                <a:latin typeface="Calibri"/>
              </a:rPr>
              <a:t>Prometheus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675120" y="4251960"/>
            <a:ext cx="1188720" cy="1280160"/>
          </a:xfrm>
          <a:prstGeom prst="roundRect">
            <a:avLst>
              <a:gd name="adj" fmla="val 14000"/>
            </a:avLst>
          </a:prstGeom>
          <a:solidFill>
            <a:srgbClr val="1E293B"/>
          </a:solidFill>
          <a:ln w="1143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675120" y="4370832"/>
            <a:ext cx="11887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60A5FA"/>
                </a:solidFill>
                <a:latin typeface="Calibri"/>
              </a:rPr>
              <a:t>65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675120" y="493776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64748B"/>
                </a:solidFill>
                <a:latin typeface="Calibri"/>
              </a:rPr>
              <a:t>Unit Tests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001000" y="4251960"/>
            <a:ext cx="1188720" cy="1280160"/>
          </a:xfrm>
          <a:prstGeom prst="roundRect">
            <a:avLst>
              <a:gd name="adj" fmla="val 14000"/>
            </a:avLst>
          </a:prstGeom>
          <a:solidFill>
            <a:srgbClr val="1E293B"/>
          </a:solidFill>
          <a:ln w="1143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001000" y="4370832"/>
            <a:ext cx="11887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A78BFA"/>
                </a:solidFill>
                <a:latin typeface="Calibri"/>
              </a:rPr>
              <a:t>15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001000" y="493776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64748B"/>
                </a:solidFill>
                <a:latin typeface="Calibri"/>
              </a:rPr>
              <a:t>Test Suites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326880" y="4251960"/>
            <a:ext cx="1188720" cy="1280160"/>
          </a:xfrm>
          <a:prstGeom prst="roundRect">
            <a:avLst>
              <a:gd name="adj" fmla="val 14000"/>
            </a:avLst>
          </a:prstGeom>
          <a:solidFill>
            <a:srgbClr val="1E293B"/>
          </a:solidFill>
          <a:ln w="11430"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326880" y="4370832"/>
            <a:ext cx="11887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B923C"/>
                </a:solidFill>
                <a:latin typeface="Calibri"/>
              </a:rPr>
              <a:t>5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326880" y="493776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64748B"/>
                </a:solidFill>
                <a:latin typeface="Calibri"/>
              </a:rPr>
              <a:t>Data Stores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0652760" y="4251960"/>
            <a:ext cx="1188720" cy="1280160"/>
          </a:xfrm>
          <a:prstGeom prst="roundRect">
            <a:avLst>
              <a:gd name="adj" fmla="val 14000"/>
            </a:avLst>
          </a:prstGeom>
          <a:solidFill>
            <a:srgbClr val="1E293B"/>
          </a:solidFill>
          <a:ln w="1143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0652760" y="4370832"/>
            <a:ext cx="11887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34D399"/>
                </a:solidFill>
                <a:latin typeface="Calibri"/>
              </a:rPr>
              <a:t>100%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652760" y="493776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64748B"/>
                </a:solidFill>
                <a:latin typeface="Calibri"/>
              </a:rPr>
              <a:t>Passing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8FAFC"/>
                </a:solidFill>
                <a:latin typeface="Calibri"/>
              </a:rPr>
              <a:t>Key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86968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CBD5E1"/>
                </a:solidFill>
                <a:latin typeface="Calibri"/>
              </a:rPr>
              <a:t>What we built and demonstrated across the full semester.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444752"/>
            <a:ext cx="2286000" cy="1691640"/>
          </a:xfrm>
          <a:prstGeom prst="roundRect">
            <a:avLst>
              <a:gd name="adj" fmla="val 14000"/>
            </a:avLst>
          </a:prstGeom>
          <a:solidFill>
            <a:srgbClr val="1E293B"/>
          </a:solidFill>
          <a:ln w="1270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1591056"/>
            <a:ext cx="22860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60A5FA"/>
                </a:solidFill>
                <a:latin typeface="Calibri"/>
              </a:rPr>
              <a:t>65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2542032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64748B"/>
                </a:solidFill>
                <a:latin typeface="Calibri"/>
              </a:rPr>
              <a:t>Unit Tests Passing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2697480" y="1444752"/>
            <a:ext cx="2286000" cy="1691640"/>
          </a:xfrm>
          <a:prstGeom prst="roundRect">
            <a:avLst>
              <a:gd name="adj" fmla="val 14000"/>
            </a:avLst>
          </a:prstGeom>
          <a:solidFill>
            <a:srgbClr val="1E293B"/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97480" y="1591056"/>
            <a:ext cx="22860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A78BFA"/>
                </a:solidFill>
                <a:latin typeface="Calibri"/>
              </a:rPr>
              <a:t>15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88920" y="2542032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64748B"/>
                </a:solidFill>
                <a:latin typeface="Calibri"/>
              </a:rPr>
              <a:t>Test Suites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74920" y="1444752"/>
            <a:ext cx="2286000" cy="1691640"/>
          </a:xfrm>
          <a:prstGeom prst="roundRect">
            <a:avLst>
              <a:gd name="adj" fmla="val 14000"/>
            </a:avLst>
          </a:prstGeom>
          <a:solidFill>
            <a:srgbClr val="1E293B"/>
          </a:solidFill>
          <a:ln w="12700"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74920" y="1591056"/>
            <a:ext cx="22860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FB923C"/>
                </a:solidFill>
                <a:latin typeface="Calibri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66360" y="2542032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64748B"/>
                </a:solidFill>
                <a:latin typeface="Calibri"/>
              </a:rPr>
              <a:t>Data Stores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452360" y="1444752"/>
            <a:ext cx="2286000" cy="1691640"/>
          </a:xfrm>
          <a:prstGeom prst="roundRect">
            <a:avLst>
              <a:gd name="adj" fmla="val 14000"/>
            </a:avLst>
          </a:prstGeom>
          <a:solidFill>
            <a:srgbClr val="1E293B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52360" y="1591056"/>
            <a:ext cx="22860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34D399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43800" y="2542032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64748B"/>
                </a:solidFill>
                <a:latin typeface="Calibri"/>
              </a:rPr>
              <a:t>Reliability Layers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829800" y="1444752"/>
            <a:ext cx="2286000" cy="1691640"/>
          </a:xfrm>
          <a:prstGeom prst="roundRect">
            <a:avLst>
              <a:gd name="adj" fmla="val 14000"/>
            </a:avLst>
          </a:prstGeom>
          <a:solidFill>
            <a:srgbClr val="1E293B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829800" y="1591056"/>
            <a:ext cx="22860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FBBF24"/>
                </a:solidFill>
                <a:latin typeface="Calibri"/>
              </a:rPr>
              <a:t>10+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921240" y="2542032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64748B"/>
                </a:solidFill>
                <a:latin typeface="Calibri"/>
              </a:rPr>
              <a:t>Microservices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3364992"/>
            <a:ext cx="3813048" cy="3108960"/>
          </a:xfrm>
          <a:prstGeom prst="roundRect">
            <a:avLst>
              <a:gd name="adj" fmla="val 14000"/>
            </a:avLst>
          </a:prstGeom>
          <a:solidFill>
            <a:srgbClr val="1E293B"/>
          </a:solidFill>
          <a:ln w="12700"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3520440"/>
            <a:ext cx="344728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B923C"/>
                </a:solidFill>
                <a:latin typeface="Calibri"/>
              </a:rPr>
              <a:t>Complete Distributed System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3913632"/>
            <a:ext cx="34472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BD5E1"/>
                </a:solidFill>
                <a:latin typeface="Calibri"/>
              </a:rPr>
              <a:t>  ▸  10+ microservices coordinating deletion across 5 data store types.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4215384"/>
            <a:ext cx="34472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BD5E1"/>
                </a:solidFill>
                <a:latin typeface="Calibri"/>
              </a:rPr>
              <a:t>  ▸  Event-driven, independently deployable workers.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4517136"/>
            <a:ext cx="34472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BD5E1"/>
                </a:solidFill>
                <a:latin typeface="Calibri"/>
              </a:rPr>
              <a:t>  ▸  Full lifecycle: request intake → audit export.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70248" y="3364992"/>
            <a:ext cx="3813048" cy="3108960"/>
          </a:xfrm>
          <a:prstGeom prst="roundRect">
            <a:avLst>
              <a:gd name="adj" fmla="val 14000"/>
            </a:avLst>
          </a:prstGeom>
          <a:solidFill>
            <a:srgbClr val="1E293B"/>
          </a:solidFill>
          <a:ln w="1270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453128" y="3520440"/>
            <a:ext cx="344728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0A5FA"/>
                </a:solidFill>
                <a:latin typeface="Calibri"/>
              </a:rPr>
              <a:t>Verifiable Proof Chain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53128" y="3913632"/>
            <a:ext cx="34472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BD5E1"/>
                </a:solidFill>
                <a:latin typeface="Calibri"/>
              </a:rPr>
              <a:t>  ▸  Cryptographic hash chain for every deletion request.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53128" y="4215384"/>
            <a:ext cx="34472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BD5E1"/>
                </a:solidFill>
                <a:latin typeface="Calibri"/>
              </a:rPr>
              <a:t>  ▸  Tamper detection works at the single-record level.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53128" y="4517136"/>
            <a:ext cx="34472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BD5E1"/>
                </a:solidFill>
                <a:latin typeface="Calibri"/>
              </a:rPr>
              <a:t>  ▸  One-click verify: VERIFIED / TAMPERED result.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220456" y="3364992"/>
            <a:ext cx="3813048" cy="3108960"/>
          </a:xfrm>
          <a:prstGeom prst="roundRect">
            <a:avLst>
              <a:gd name="adj" fmla="val 14000"/>
            </a:avLst>
          </a:prstGeom>
          <a:solidFill>
            <a:srgbClr val="1E293B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403336" y="3520440"/>
            <a:ext cx="344728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4D399"/>
                </a:solidFill>
                <a:latin typeface="Calibri"/>
              </a:rPr>
              <a:t>Failure-Safe by Design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03336" y="3913632"/>
            <a:ext cx="34472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BD5E1"/>
                </a:solidFill>
                <a:latin typeface="Calibri"/>
              </a:rPr>
              <a:t>  ▸  Retry + DLQ + idempotency + circuit breaker.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03336" y="4215384"/>
            <a:ext cx="34472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BD5E1"/>
                </a:solidFill>
                <a:latin typeface="Calibri"/>
              </a:rPr>
              <a:t>  ▸  No deletion lost silently, even under partitions.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03336" y="4517136"/>
            <a:ext cx="34472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BD5E1"/>
                </a:solidFill>
                <a:latin typeface="Calibri"/>
              </a:rPr>
              <a:t>  ▸  DLQ replay ensures ops can recover any failed step.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6492240"/>
            <a:ext cx="111831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4748B"/>
                </a:solidFill>
                <a:latin typeface="Calibri"/>
              </a:rPr>
              <a:t>EraseGraph demonstrates that compliance-grade deletion propagation is achievable with event-driven orchestration, reliability engineering, and cryptographic auditability.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8FAFC"/>
                </a:solidFill>
                <a:latin typeface="Calibri"/>
              </a:rPr>
              <a:t>Challenges &amp; Lessons Learned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86968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CBD5E1"/>
                </a:solidFill>
                <a:latin typeface="Calibri"/>
              </a:rPr>
              <a:t>Building a reliable distributed system is harder than it looks — here is what we learned.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417320"/>
            <a:ext cx="2852928" cy="4663440"/>
          </a:xfrm>
          <a:prstGeom prst="roundRect">
            <a:avLst>
              <a:gd name="adj" fmla="val 14000"/>
            </a:avLst>
          </a:prstGeom>
          <a:solidFill>
            <a:srgbClr val="1E293B"/>
          </a:solidFill>
          <a:ln w="12700"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84632" y="1554480"/>
            <a:ext cx="252374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B923C"/>
                </a:solidFill>
                <a:latin typeface="Calibri"/>
              </a:rPr>
              <a:t>Distributed idempotency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4632" y="1993392"/>
            <a:ext cx="252374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  <a:latin typeface="Calibri"/>
              </a:rPr>
              <a:t>  ▸  Ensuring exactly-once processing across async workers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4632" y="2560320"/>
            <a:ext cx="252374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  <a:latin typeface="Calibri"/>
              </a:rPr>
              <a:t>  ▸  Race conditions on duplicate events required DB-level unique constraints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632" y="3127248"/>
            <a:ext cx="252374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  <a:latin typeface="Calibri"/>
              </a:rPr>
              <a:t>  ▸  Clock skew makes timestamp-only deduplication unreliable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82696" y="1417320"/>
            <a:ext cx="2852928" cy="4663440"/>
          </a:xfrm>
          <a:prstGeom prst="roundRect">
            <a:avLst>
              <a:gd name="adj" fmla="val 14000"/>
            </a:avLst>
          </a:prstGeom>
          <a:solidFill>
            <a:srgbClr val="1E293B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47288" y="1554480"/>
            <a:ext cx="252374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34D399"/>
                </a:solidFill>
                <a:latin typeface="Calibri"/>
              </a:rPr>
              <a:t>Hash chain concurrency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47288" y="1993392"/>
            <a:ext cx="252374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  <a:latin typeface="Calibri"/>
              </a:rPr>
              <a:t>  ▸  Concurrent inserts can corrupt prev_hash references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47288" y="2560320"/>
            <a:ext cx="252374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  <a:latin typeface="Calibri"/>
              </a:rPr>
              <a:t>  ▸  Solved with pg_advisory_xact_lock for sequential writes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47288" y="3127248"/>
            <a:ext cx="252374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  <a:latin typeface="Calibri"/>
              </a:rPr>
              <a:t>  ▸  Verified correct under load with integration tests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45352" y="1417320"/>
            <a:ext cx="2852928" cy="4663440"/>
          </a:xfrm>
          <a:prstGeom prst="roundRect">
            <a:avLst>
              <a:gd name="adj" fmla="val 14000"/>
            </a:avLst>
          </a:prstGeom>
          <a:solidFill>
            <a:srgbClr val="1E293B"/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9944" y="1554480"/>
            <a:ext cx="252374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A78BFA"/>
                </a:solidFill>
                <a:latin typeface="Calibri"/>
              </a:rPr>
              <a:t>Circuit breaker persistence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9944" y="1993392"/>
            <a:ext cx="252374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  <a:latin typeface="Calibri"/>
              </a:rPr>
              <a:t>  ▸  State must survive worker restarts — stored in Redis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9944" y="2560320"/>
            <a:ext cx="252374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  <a:latin typeface="Calibri"/>
              </a:rPr>
              <a:t>  ▸  Half-open probe logic required careful timeout tuning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9944" y="3127248"/>
            <a:ext cx="252374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  <a:latin typeface="Calibri"/>
              </a:rPr>
              <a:t>  ▸  Unexpected: CB state affects DLQ routing decisions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208008" y="1417320"/>
            <a:ext cx="2852928" cy="4663440"/>
          </a:xfrm>
          <a:prstGeom prst="roundRect">
            <a:avLst>
              <a:gd name="adj" fmla="val 14000"/>
            </a:avLst>
          </a:prstGeom>
          <a:solidFill>
            <a:srgbClr val="1E293B"/>
          </a:solidFill>
          <a:ln w="127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72600" y="1554480"/>
            <a:ext cx="252374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22D3EE"/>
                </a:solidFill>
                <a:latin typeface="Calibri"/>
              </a:rPr>
              <a:t>Trace context across async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72600" y="1993392"/>
            <a:ext cx="252374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  <a:latin typeface="Calibri"/>
              </a:rPr>
              <a:t>  ▸  OpenTelemetry span context lost across RabbitMQ boundaries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72600" y="2560320"/>
            <a:ext cx="252374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  <a:latin typeface="Calibri"/>
              </a:rPr>
              <a:t>  ▸  Required manual W3C trace-context header propagation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72600" y="3127248"/>
            <a:ext cx="252374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  <a:latin typeface="Calibri"/>
              </a:rPr>
              <a:t>  ▸  Jaeger now shows full end-to-end trace per request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6217920"/>
            <a:ext cx="11548872" cy="457200"/>
          </a:xfrm>
          <a:prstGeom prst="roundRect">
            <a:avLst>
              <a:gd name="adj" fmla="val 14000"/>
            </a:avLst>
          </a:prstGeom>
          <a:solidFill>
            <a:srgbClr val="1E293B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75488" y="6291072"/>
            <a:ext cx="11247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BBF24"/>
                </a:solidFill>
                <a:latin typeface="Calibri"/>
              </a:rPr>
              <a:t>  Key lesson: Event-driven fanout beats synchronous RPC for deletion — lower coupling, better scalability, explicit failure visibility.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8FAFC"/>
                </a:solidFill>
                <a:latin typeface="Calibri"/>
              </a:rPr>
              <a:t>Future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86968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CBD5E1"/>
                </a:solidFill>
                <a:latin typeface="Calibri"/>
              </a:rPr>
              <a:t>Three directions to take EraseGraph from a proof-of-concept to a production-grade platform.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417320"/>
            <a:ext cx="3767328" cy="4846320"/>
          </a:xfrm>
          <a:prstGeom prst="roundRect">
            <a:avLst>
              <a:gd name="adj" fmla="val 14000"/>
            </a:avLst>
          </a:prstGeom>
          <a:solidFill>
            <a:srgbClr val="1E293B"/>
          </a:solidFill>
          <a:ln w="1270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417320"/>
            <a:ext cx="3767328" cy="54864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554480"/>
            <a:ext cx="340156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0A5FA"/>
                </a:solidFill>
                <a:latin typeface="Calibri"/>
              </a:rPr>
              <a:t>Scalability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920240"/>
            <a:ext cx="3401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64748B"/>
                </a:solidFill>
                <a:latin typeface="Calibri"/>
              </a:rPr>
              <a:t>Replace RabbitMQ with Apache Kafka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304288"/>
            <a:ext cx="340156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BD5E1"/>
                </a:solidFill>
                <a:latin typeface="Calibri"/>
              </a:rPr>
              <a:t>  ▸  Persistent, replayable event log for replay-on-demand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852928"/>
            <a:ext cx="340156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BD5E1"/>
                </a:solidFill>
                <a:latin typeface="Calibri"/>
              </a:rPr>
              <a:t>  ▸  Consumer group auto-scaling with KEDA on Kubernetes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401568"/>
            <a:ext cx="340156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BD5E1"/>
                </a:solidFill>
                <a:latin typeface="Calibri"/>
              </a:rPr>
              <a:t>  ▸  Partition deletion requests by user_id for parallelism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950208"/>
            <a:ext cx="340156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BD5E1"/>
                </a:solidFill>
                <a:latin typeface="Calibri"/>
              </a:rPr>
              <a:t>  ▸  Exactly-once delivery with Kafka transactions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51960" y="1417320"/>
            <a:ext cx="3767328" cy="4846320"/>
          </a:xfrm>
          <a:prstGeom prst="roundRect">
            <a:avLst>
              <a:gd name="adj" fmla="val 14000"/>
            </a:avLst>
          </a:prstGeom>
          <a:solidFill>
            <a:srgbClr val="1E293B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51960" y="1417320"/>
            <a:ext cx="3767328" cy="54864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34840" y="1554480"/>
            <a:ext cx="340156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4D399"/>
                </a:solidFill>
                <a:latin typeface="Calibri"/>
              </a:rPr>
              <a:t>Compliance Automation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4840" y="1920240"/>
            <a:ext cx="3401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64748B"/>
                </a:solidFill>
                <a:latin typeface="Calibri"/>
              </a:rPr>
              <a:t>GDPR / CCPA deletion certificate generation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34840" y="2304288"/>
            <a:ext cx="340156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BD5E1"/>
                </a:solidFill>
                <a:latin typeface="Calibri"/>
              </a:rPr>
              <a:t>  ▸  Automated PDF deletion certificate with proof hash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34840" y="2852928"/>
            <a:ext cx="340156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BD5E1"/>
                </a:solidFill>
                <a:latin typeface="Calibri"/>
              </a:rPr>
              <a:t>  ▸  SLA violation reports emailed to data officers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34840" y="3401568"/>
            <a:ext cx="340156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BD5E1"/>
                </a:solidFill>
                <a:latin typeface="Calibri"/>
              </a:rPr>
              <a:t>  ▸  Multi-region data residency tagging per request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34840" y="3950208"/>
            <a:ext cx="340156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BD5E1"/>
                </a:solidFill>
                <a:latin typeface="Calibri"/>
              </a:rPr>
              <a:t>  ▸  Webhook notifications to data subjects on completion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183880" y="1417320"/>
            <a:ext cx="3767328" cy="4846320"/>
          </a:xfrm>
          <a:prstGeom prst="roundRect">
            <a:avLst>
              <a:gd name="adj" fmla="val 14000"/>
            </a:avLst>
          </a:prstGeom>
          <a:solidFill>
            <a:srgbClr val="1E293B"/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183880" y="1417320"/>
            <a:ext cx="3767328" cy="54864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66760" y="1554480"/>
            <a:ext cx="340156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78BFA"/>
                </a:solidFill>
                <a:latin typeface="Calibri"/>
              </a:rPr>
              <a:t>Intelligence &amp; Resilience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66760" y="1920240"/>
            <a:ext cx="3401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64748B"/>
                </a:solidFill>
                <a:latin typeface="Calibri"/>
              </a:rPr>
              <a:t>Observability-driven optimisation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66760" y="2304288"/>
            <a:ext cx="340156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BD5E1"/>
                </a:solidFill>
                <a:latin typeface="Calibri"/>
              </a:rPr>
              <a:t>  ▸  ML anomaly detection on deletion latency patterns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66760" y="2852928"/>
            <a:ext cx="340156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BD5E1"/>
                </a:solidFill>
                <a:latin typeface="Calibri"/>
              </a:rPr>
              <a:t>  ▸  GraphQL audit query API for flexible reporting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66760" y="3401568"/>
            <a:ext cx="340156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BD5E1"/>
                </a:solidFill>
                <a:latin typeface="Calibri"/>
              </a:rPr>
              <a:t>  ▸  Chaos engineering suite (fault injection, partition tests)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66760" y="3950208"/>
            <a:ext cx="340156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BD5E1"/>
                </a:solidFill>
                <a:latin typeface="Calibri"/>
              </a:rPr>
              <a:t>  ▸  Auto-remediation: trigger replay on SLA breach detection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8FAFC"/>
                </a:solidFill>
                <a:latin typeface="Calibri"/>
              </a:rPr>
              <a:t>Team Contributions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86968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CBD5E1"/>
                </a:solidFill>
                <a:latin typeface="Calibri"/>
              </a:rPr>
              <a:t>Responsibility breakdown — who owned what and the impact delivered.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426464"/>
            <a:ext cx="11548872" cy="365760"/>
          </a:xfrm>
          <a:prstGeom prst="roundRect">
            <a:avLst>
              <a:gd name="adj" fmla="val 14000"/>
            </a:avLst>
          </a:prstGeom>
          <a:solidFill>
            <a:srgbClr val="1E293B"/>
          </a:solidFill>
          <a:ln w="762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481328"/>
            <a:ext cx="1600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64748B"/>
                </a:solidFill>
                <a:latin typeface="Calibri"/>
              </a:rPr>
              <a:t>Member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03120" y="1481328"/>
            <a:ext cx="2971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64748B"/>
                </a:solidFill>
                <a:latin typeface="Calibri"/>
              </a:rPr>
              <a:t>Owned Areas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66360" y="1481328"/>
            <a:ext cx="3063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64748B"/>
                </a:solidFill>
                <a:latin typeface="Calibri"/>
              </a:rPr>
              <a:t>Key Deliverables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21040" y="1481328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64748B"/>
                </a:solidFill>
                <a:latin typeface="Calibri"/>
              </a:rPr>
              <a:t>Impact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792224"/>
            <a:ext cx="11548872" cy="1069848"/>
          </a:xfrm>
          <a:prstGeom prst="roundRect">
            <a:avLst>
              <a:gd name="adj" fmla="val 14000"/>
            </a:avLst>
          </a:prstGeom>
          <a:solidFill>
            <a:srgbClr val="1E293B"/>
          </a:solidFill>
          <a:ln w="635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1901952"/>
            <a:ext cx="1490472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0A5FA"/>
                </a:solidFill>
                <a:latin typeface="Calibri"/>
              </a:rPr>
              <a:t>Haoyuan Shan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20" y="1901952"/>
            <a:ext cx="2862072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BD5E1"/>
                </a:solidFill>
                <a:latin typeface="Calibri"/>
              </a:rPr>
              <a:t>GitHub consolidation · K8s / cloud deployment · backend integration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66360" y="1901952"/>
            <a:ext cx="2953512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BD5E1"/>
                </a:solidFill>
                <a:latin typeface="Calibri"/>
              </a:rPr>
              <a:t>K8s manifests, cloud deployment, proof-chain optimisation, demo data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1901952"/>
            <a:ext cx="3547872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BD5E1"/>
                </a:solidFill>
                <a:latin typeface="Calibri"/>
              </a:rPr>
              <a:t>Turned the project into a cohesive, demo-ready deliverable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2907792"/>
            <a:ext cx="11548872" cy="1069848"/>
          </a:xfrm>
          <a:prstGeom prst="roundRect">
            <a:avLst>
              <a:gd name="adj" fmla="val 14000"/>
            </a:avLst>
          </a:prstGeom>
          <a:solidFill>
            <a:srgbClr val="1E293B"/>
          </a:solidFill>
          <a:ln w="635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3017520"/>
            <a:ext cx="1490472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A78BFA"/>
                </a:solidFill>
                <a:latin typeface="Calibri"/>
              </a:rPr>
              <a:t>Vritika Malhotra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03120" y="3017520"/>
            <a:ext cx="2862072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BD5E1"/>
                </a:solidFill>
                <a:latin typeface="Calibri"/>
              </a:rPr>
              <a:t>Retry · DLQ · idempotency · circuit breaker · reliability docs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66360" y="3017520"/>
            <a:ext cx="2953512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BD5E1"/>
                </a:solidFill>
                <a:latin typeface="Calibri"/>
              </a:rPr>
              <a:t>Circuit breaker service, DLQ replay, idempotency guard, unit tests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3017520"/>
            <a:ext cx="3547872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BD5E1"/>
                </a:solidFill>
                <a:latin typeface="Calibri"/>
              </a:rPr>
              <a:t>Improved failure recovery &amp; robustness of distributed deletion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4023360"/>
            <a:ext cx="11548872" cy="1069848"/>
          </a:xfrm>
          <a:prstGeom prst="roundRect">
            <a:avLst>
              <a:gd name="adj" fmla="val 14000"/>
            </a:avLst>
          </a:prstGeom>
          <a:solidFill>
            <a:srgbClr val="1E293B"/>
          </a:solidFill>
          <a:ln w="6350"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1480" y="4133088"/>
            <a:ext cx="1490472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B923C"/>
                </a:solidFill>
                <a:latin typeface="Calibri"/>
              </a:rPr>
              <a:t>Sakshat Patil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03120" y="4133088"/>
            <a:ext cx="2862072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BD5E1"/>
                </a:solidFill>
                <a:latin typeface="Calibri"/>
              </a:rPr>
              <a:t>Frontend dashboard · workflow UX · real-time status experience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66360" y="4133088"/>
            <a:ext cx="2953512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BD5E1"/>
                </a:solidFill>
                <a:latin typeface="Calibri"/>
              </a:rPr>
              <a:t>React pages, SSE streaming UI, bulk upload, admin front-end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40" y="4133088"/>
            <a:ext cx="3547872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BD5E1"/>
                </a:solidFill>
                <a:latin typeface="Calibri"/>
              </a:rPr>
              <a:t>Improved visualisation quality and demo clarity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5138928"/>
            <a:ext cx="11548872" cy="1069848"/>
          </a:xfrm>
          <a:prstGeom prst="roundRect">
            <a:avLst>
              <a:gd name="adj" fmla="val 14000"/>
            </a:avLst>
          </a:prstGeom>
          <a:solidFill>
            <a:srgbClr val="1E293B"/>
          </a:solidFill>
          <a:ln w="63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1480" y="5248656"/>
            <a:ext cx="1490472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4D399"/>
                </a:solidFill>
                <a:latin typeface="Calibri"/>
              </a:rPr>
              <a:t>Asim Mohammed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03120" y="5248656"/>
            <a:ext cx="2862072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BD5E1"/>
                </a:solidFill>
                <a:latin typeface="Calibri"/>
              </a:rPr>
              <a:t>Consistency semantics · backend / admin workflow · state model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166360" y="5248656"/>
            <a:ext cx="2953512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BD5E1"/>
                </a:solidFill>
                <a:latin typeface="Calibri"/>
              </a:rPr>
              <a:t>SLA monitor, SSE backend, deletion-request service, state design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21040" y="5248656"/>
            <a:ext cx="3547872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BD5E1"/>
                </a:solidFill>
                <a:latin typeface="Calibri"/>
              </a:rPr>
              <a:t>Improved state-model clarity and operational reliability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419088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 i="1">
                <a:solidFill>
                  <a:srgbClr val="64748B"/>
                </a:solidFill>
                <a:latin typeface="Calibri"/>
              </a:rPr>
              <a:t>R = Responsible   A = Accountable   C = Consulted   I = Informed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02920" cy="6858000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097280"/>
            <a:ext cx="10515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800" b="1" i="0">
                <a:solidFill>
                  <a:srgbClr val="F8FAFC"/>
                </a:solidFill>
                <a:latin typeface="Calibri"/>
              </a:rPr>
              <a:t>Thank you.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2971800"/>
            <a:ext cx="4572000" cy="64008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310896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 i="0">
                <a:solidFill>
                  <a:srgbClr val="FB923C"/>
                </a:solidFill>
                <a:latin typeface="Calibri"/>
              </a:rPr>
              <a:t>Questions?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434840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BD5E1"/>
                </a:solidFill>
                <a:latin typeface="Calibri"/>
              </a:rPr>
              <a:t>EraseGraph  —  Verifiable deletion propagation  ·  CMPE 273 Spring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5074920"/>
            <a:ext cx="1426464" cy="301752"/>
          </a:xfrm>
          <a:prstGeom prst="roundRect">
            <a:avLst>
              <a:gd name="adj" fmla="val 14000"/>
            </a:avLst>
          </a:prstGeom>
          <a:solidFill>
            <a:srgbClr val="26354C"/>
          </a:solidFill>
          <a:ln w="1016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111496"/>
            <a:ext cx="124358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60A5FA"/>
                </a:solidFill>
                <a:latin typeface="Calibri"/>
              </a:rPr>
              <a:t>Event-Driven</a:t>
            </a:r>
          </a:p>
        </p:txBody>
      </p:sp>
      <p:sp>
        <p:nvSpPr>
          <p:cNvPr id="10" name="Rectangle 9"/>
          <p:cNvSpPr/>
          <p:nvPr/>
        </p:nvSpPr>
        <p:spPr>
          <a:xfrm>
            <a:off x="2450592" y="5074920"/>
            <a:ext cx="2034540" cy="301752"/>
          </a:xfrm>
          <a:prstGeom prst="roundRect">
            <a:avLst>
              <a:gd name="adj" fmla="val 14000"/>
            </a:avLst>
          </a:prstGeom>
          <a:solidFill>
            <a:srgbClr val="26354C"/>
          </a:solidFill>
          <a:ln w="1016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542032" y="5111496"/>
            <a:ext cx="18516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34D399"/>
                </a:solidFill>
                <a:latin typeface="Calibri"/>
              </a:rPr>
              <a:t>Cryptographic Proof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686300" y="5074920"/>
            <a:ext cx="1860804" cy="301752"/>
          </a:xfrm>
          <a:prstGeom prst="roundRect">
            <a:avLst>
              <a:gd name="adj" fmla="val 14000"/>
            </a:avLst>
          </a:prstGeom>
          <a:solidFill>
            <a:srgbClr val="26354C"/>
          </a:solidFill>
          <a:ln w="10160"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77740" y="5111496"/>
            <a:ext cx="167792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B923C"/>
                </a:solidFill>
                <a:latin typeface="Calibri"/>
              </a:rPr>
              <a:t>Reliability First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748272" y="5074920"/>
            <a:ext cx="1860804" cy="301752"/>
          </a:xfrm>
          <a:prstGeom prst="roundRect">
            <a:avLst>
              <a:gd name="adj" fmla="val 14000"/>
            </a:avLst>
          </a:prstGeom>
          <a:solidFill>
            <a:srgbClr val="26354C"/>
          </a:solidFill>
          <a:ln w="1016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39712" y="5111496"/>
            <a:ext cx="167792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A78BFA"/>
                </a:solidFill>
                <a:latin typeface="Calibri"/>
              </a:rPr>
              <a:t>GDPR / CCPA Ready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810244" y="5074920"/>
            <a:ext cx="1860804" cy="301752"/>
          </a:xfrm>
          <a:prstGeom prst="roundRect">
            <a:avLst>
              <a:gd name="adj" fmla="val 14000"/>
            </a:avLst>
          </a:prstGeom>
          <a:solidFill>
            <a:srgbClr val="26354C"/>
          </a:solidFill>
          <a:ln w="1016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01684" y="5111496"/>
            <a:ext cx="167792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BBF24"/>
                </a:solidFill>
                <a:latin typeface="Calibri"/>
              </a:rPr>
              <a:t>10+ Microservices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872216" y="5074920"/>
            <a:ext cx="1252728" cy="301752"/>
          </a:xfrm>
          <a:prstGeom prst="roundRect">
            <a:avLst>
              <a:gd name="adj" fmla="val 14000"/>
            </a:avLst>
          </a:prstGeom>
          <a:solidFill>
            <a:srgbClr val="26354C"/>
          </a:solidFill>
          <a:ln w="1016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63656" y="5111496"/>
            <a:ext cx="106984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22D3EE"/>
                </a:solidFill>
                <a:latin typeface="Calibri"/>
              </a:rPr>
              <a:t>Kubernetes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